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B365D"/>
                </a:solidFill>
              </a:rPr>
              <a:t>Heart Disease Prediction Using Machine Learning and Deep Learning Techniques</a:t>
            </a:r>
          </a:p>
          <a:p>
            <a:pPr algn="ctr">
              <a:spcBef>
                <a:spcPts val="1400"/>
              </a:spcBef>
            </a:pPr>
            <a:r>
              <a:rPr sz="1800">
                <a:solidFill>
                  <a:srgbClr val="4B6B94"/>
                </a:solidFill>
              </a:rPr>
              <a:t>Senior Engineering Capstone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</a:rPr>
              <a:t>Team Members: Shreyas | Uday | Suprith | Sahitya
Department of Computer Science &amp; Engineering
Dataset: UCI Cleveland Heart Disease (ID 45)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Problem Statement &amp; Clinical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Official Project Title: </a:t>
            </a:r>
            <a:r>
              <a:rPr sz="1500">
                <a:solidFill>
                  <a:srgbClr val="333333"/>
                </a:solidFill>
              </a:rPr>
              <a:t>"Heart Disease Prediction Using Machine Learning and Deep Learning Techniques"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Clinical Context: </a:t>
            </a:r>
            <a:r>
              <a:rPr sz="1500">
                <a:solidFill>
                  <a:srgbClr val="333333"/>
                </a:solidFill>
              </a:rPr>
              <a:t>Cardiovascular disease is the leading global cause of death. Early non-invasive risk screening can enable preventive medical intervention.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Computational Goal: </a:t>
            </a:r>
            <a:r>
              <a:rPr sz="1500">
                <a:solidFill>
                  <a:srgbClr val="333333"/>
                </a:solidFill>
              </a:rPr>
              <a:t>Map 13 clinical diagnostic variables (demographic, physiological, electrocardiographic) to binary heart disease presence.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Target Mapping: </a:t>
            </a:r>
            <a:r>
              <a:rPr sz="1500">
                <a:solidFill>
                  <a:srgbClr val="333333"/>
                </a:solidFill>
              </a:rPr>
              <a:t>Raw target `num` mapped to Binary Target: Class 0 (No Heart Disease: 164 cases) vs Class 1 (Heart Disease Present: 139 cases).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Engineering Scope: </a:t>
            </a:r>
            <a:r>
              <a:rPr sz="1500">
                <a:solidFill>
                  <a:srgbClr val="333333"/>
                </a:solidFill>
              </a:rPr>
              <a:t>Develop a leakage-safe ML pipeline, benchmark multiple algorithms, tune hyperparameters, freeze the winning model, and deploy an interactive web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End-to-End Pipeline: </a:t>
            </a:r>
            <a:r>
              <a:rPr sz="1500">
                <a:solidFill>
                  <a:srgbClr val="333333"/>
                </a:solidFill>
              </a:rPr>
              <a:t>Build a leak-free Machine Learning and Deep Learning prediction pipeline.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UCI Cleveland Dataset: </a:t>
            </a:r>
            <a:r>
              <a:rPr sz="1500">
                <a:solidFill>
                  <a:srgbClr val="333333"/>
                </a:solidFill>
              </a:rPr>
              <a:t>Utilize 303 patient clinical observations (13 predictors, binary target).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Multi-Model Benchmarking: </a:t>
            </a:r>
            <a:r>
              <a:rPr sz="1500">
                <a:solidFill>
                  <a:srgbClr val="333333"/>
                </a:solidFill>
              </a:rPr>
              <a:t>Train and evaluate 7 baseline ML models and candidate ANN DL architectures.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Hyperparameter Tuning: </a:t>
            </a:r>
            <a:r>
              <a:rPr sz="1500">
                <a:solidFill>
                  <a:srgbClr val="333333"/>
                </a:solidFill>
              </a:rPr>
              <a:t>Perform 5-fold cross-validation grid search to optimize model hyperparameters.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Literature Survey Integration: </a:t>
            </a:r>
            <a:r>
              <a:rPr sz="1500">
                <a:solidFill>
                  <a:srgbClr val="333333"/>
                </a:solidFill>
              </a:rPr>
              <a:t>Benchmark methodology against 16 verified academic research papers.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Web Application Deployment: </a:t>
            </a:r>
            <a:r>
              <a:rPr sz="1500">
                <a:solidFill>
                  <a:srgbClr val="333333"/>
                </a:solidFill>
              </a:rPr>
              <a:t>Deploy interactive Streamlit application (app.py) for real-time risk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Literature Survey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Systematic Literature Review: </a:t>
            </a:r>
            <a:r>
              <a:rPr sz="1500">
                <a:solidFill>
                  <a:srgbClr val="333333"/>
                </a:solidFill>
              </a:rPr>
              <a:t>Conducted a structured survey of cardiovascular disease prediction studies using machine learning.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Target Volume: </a:t>
            </a:r>
            <a:r>
              <a:rPr sz="1500">
                <a:solidFill>
                  <a:srgbClr val="333333"/>
                </a:solidFill>
              </a:rPr>
              <a:t>Structured framework established for 16 target papers (8 Machine Learning + 8 Deep Learning).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Standardized Schema: </a:t>
            </a:r>
            <a:r>
              <a:rPr sz="1500">
                <a:solidFill>
                  <a:srgbClr val="333333"/>
                </a:solidFill>
              </a:rPr>
              <a:t>Captured Author/Year, Paper Title, Journal/Publisher, Methods, Dataset Name, Limitations, and Main Method.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Repository Artifact: </a:t>
            </a:r>
            <a:r>
              <a:rPr sz="1500">
                <a:solidFill>
                  <a:srgbClr val="333333"/>
                </a:solidFill>
              </a:rPr>
              <a:t>All literature survey parameters documented in `results/literature_survey_template.csv`.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Verified Dataset Foundation: </a:t>
            </a:r>
            <a:r>
              <a:rPr sz="1500">
                <a:solidFill>
                  <a:srgbClr val="333333"/>
                </a:solidFill>
              </a:rPr>
              <a:t>Current repository implementation relies strictly on verified UCI Cleveland dataset benchmarks.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Dataset &amp; Clinical Attributes (UCI Cleveland)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Dataset Metadata: </a:t>
            </a:r>
            <a:r>
              <a:rPr sz="1500">
                <a:solidFill>
                  <a:srgbClr val="333333"/>
                </a:solidFill>
              </a:rPr>
              <a:t>UCI Cleveland Subset (Dataset ID 45). Total 303 patient observations, 13 predictor features, 1 target variable.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Continuous Predictors (5): </a:t>
            </a:r>
            <a:r>
              <a:rPr sz="1500">
                <a:solidFill>
                  <a:srgbClr val="333333"/>
                </a:solidFill>
              </a:rPr>
              <a:t>age (29-77 yrs), trestbps (94-200 mm Hg), chol (126-564 mg/dl), thalach (71-202 bpm), oldpeak (0.0-6.2 ST depression).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Categorical Predictors (8): </a:t>
            </a:r>
            <a:r>
              <a:rPr sz="1500">
                <a:solidFill>
                  <a:srgbClr val="333333"/>
                </a:solidFill>
              </a:rPr>
              <a:t>sex, cp (chest pain 1-4), fbs (&gt;120 mg/dl), restecg (0-2), exang (angina 0/1), slope (1-3), ca (vessels 0-3), thal (3, 6, 7).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Binary Target Distribution: </a:t>
            </a:r>
            <a:r>
              <a:rPr sz="1500">
                <a:solidFill>
                  <a:srgbClr val="333333"/>
                </a:solidFill>
              </a:rPr>
              <a:t>Class 0 (No Disease): 164 rows (54.1%) | Class 1 (Disease Present): 139 rows (45.9%). Well-balanced dataset.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Data Quality &amp; Integrity: </a:t>
            </a:r>
            <a:r>
              <a:rPr sz="1500">
                <a:solidFill>
                  <a:srgbClr val="333333"/>
                </a:solidFill>
              </a:rPr>
              <a:t>Only 6 missing cells across 2 features (ca=4, thal=2). Zero duplicate rows. 100% data integrity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Data Preprocessing &amp; Leakage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Stratified 80/20 Split: </a:t>
            </a:r>
            <a:r>
              <a:rPr sz="1500">
                <a:solidFill>
                  <a:srgbClr val="333333"/>
                </a:solidFill>
              </a:rPr>
              <a:t>242 training rows (`X_train_raw.csv`) | 61 held-out test rows (`X_test_raw.csv`) with `random_state=42`.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Continuous Processing: </a:t>
            </a:r>
            <a:r>
              <a:rPr sz="1500">
                <a:solidFill>
                  <a:srgbClr val="333333"/>
                </a:solidFill>
              </a:rPr>
              <a:t>`SimpleImputer(strategy='median')` -&gt; `StandardScaler()` (z-score normalization).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Categorical Processing: </a:t>
            </a:r>
            <a:r>
              <a:rPr sz="1500">
                <a:solidFill>
                  <a:srgbClr val="333333"/>
                </a:solidFill>
              </a:rPr>
              <a:t>`SimpleImputer(strategy='most_frequent')` -&gt; `OneHotEncoder(handle_unknown='ignore')`.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Feature Expansion: </a:t>
            </a:r>
            <a:r>
              <a:rPr sz="1500">
                <a:solidFill>
                  <a:srgbClr val="333333"/>
                </a:solidFill>
              </a:rPr>
              <a:t>Expanded 13 raw predictor columns into 28 transformed numeric features.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Strict Leakage Prevention: </a:t>
            </a:r>
            <a:r>
              <a:rPr sz="1500">
                <a:solidFill>
                  <a:srgbClr val="333333"/>
                </a:solidFill>
              </a:rPr>
              <a:t>Imputers, scalers, and encoders were fitted strictly on training folds within complete scikit-learn `Pipeline` objects.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Exploratory Data Analysis (EDA)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Max Heart Rate (`thalach`): </a:t>
            </a:r>
            <a:r>
              <a:rPr sz="1500">
                <a:solidFill>
                  <a:srgbClr val="333333"/>
                </a:solidFill>
              </a:rPr>
              <a:t>Strongest negative correlation with target (r = -0.42). Higher peak heart rate correlates with absence of disease.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ST Depression (`oldpeak`): </a:t>
            </a:r>
            <a:r>
              <a:rPr sz="1500">
                <a:solidFill>
                  <a:srgbClr val="333333"/>
                </a:solidFill>
              </a:rPr>
              <a:t>Strongest positive correlation with target (r = +0.42). Higher exercise ST depression indicates severe ischemia.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Patient Age (`age`): </a:t>
            </a:r>
            <a:r>
              <a:rPr sz="1500">
                <a:solidFill>
                  <a:srgbClr val="333333"/>
                </a:solidFill>
              </a:rPr>
              <a:t>Moderate positive correlation with target (r = +0.23). Disease prevalence increases with age.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Chest Pain (`cp`): </a:t>
            </a:r>
            <a:r>
              <a:rPr sz="1500">
                <a:solidFill>
                  <a:srgbClr val="333333"/>
                </a:solidFill>
              </a:rPr>
              <a:t>Asymptomatic chest pain (cp=4) exhibited the highest prevalence of heart disease presence (72.7%).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21 Figure Artifacts: </a:t>
            </a:r>
            <a:r>
              <a:rPr sz="1500">
                <a:solidFill>
                  <a:srgbClr val="333333"/>
                </a:solidFill>
              </a:rPr>
              <a:t>Generated 21 report-quality 300 DPI figures in `results/figures/`.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Machine Learning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7 Baseline Classifiers: </a:t>
            </a:r>
            <a:r>
              <a:rPr sz="1500">
                <a:solidFill>
                  <a:srgbClr val="333333"/>
                </a:solidFill>
              </a:rPr>
              <a:t>Logistic Regression, K-Nearest Neighbors, Decision Tree, Random Forest, SVM, Naive Bayes, XGBoost.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Cross-Validation Protocol: </a:t>
            </a:r>
            <a:r>
              <a:rPr sz="1500">
                <a:solidFill>
                  <a:srgbClr val="333333"/>
                </a:solidFill>
              </a:rPr>
              <a:t>5-Fold Stratified Cross-Validation (`StratifiedKFold(n_splits=5, shuffle=True, random_state=42)`).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Validation Boundary: </a:t>
            </a:r>
            <a:r>
              <a:rPr sz="1500">
                <a:solidFill>
                  <a:srgbClr val="333333"/>
                </a:solidFill>
              </a:rPr>
              <a:t>Cross-validation executed strictly on 242 training rows. Held-out test set (61 rows) kept strictly isolated.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Primary Metric: </a:t>
            </a:r>
            <a:r>
              <a:rPr sz="1500">
                <a:solidFill>
                  <a:srgbClr val="333333"/>
                </a:solidFill>
              </a:rPr>
              <a:t>ROC-AUC (Receiver Operating Characteristic - Area Under Curve) selected for threshold-agnostic optimization.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Unified Pipelines: </a:t>
            </a:r>
            <a:r>
              <a:rPr sz="1500">
                <a:solidFill>
                  <a:srgbClr val="333333"/>
                </a:solidFill>
              </a:rPr>
              <a:t>All models encapsulated within scikit-learn `Pipeline([('preprocessor', ColumnTransformer), ('classifier', Model)])`.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Baseline Model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Logistic Regression: </a:t>
            </a:r>
            <a:r>
              <a:rPr sz="1500">
                <a:solidFill>
                  <a:srgbClr val="333333"/>
                </a:solidFill>
              </a:rPr>
              <a:t>CV ROC-AUC = 0.9025 | Test Acc = 0.8852 | Test Recall = 0.9286 | Test ROC-AUC = 0.9665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Support Vector Machine: </a:t>
            </a:r>
            <a:r>
              <a:rPr sz="1500">
                <a:solidFill>
                  <a:srgbClr val="333333"/>
                </a:solidFill>
              </a:rPr>
              <a:t>CV ROC-AUC = 0.8884 | Test Acc = 0.8852 | Test Recall = 0.9286 | Test ROC-AUC = 0.9643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Random Forest (Baseline): </a:t>
            </a:r>
            <a:r>
              <a:rPr sz="1500">
                <a:solidFill>
                  <a:srgbClr val="333333"/>
                </a:solidFill>
              </a:rPr>
              <a:t>CV ROC-AUC = 0.8968 | Test Acc = 0.8689 | Test Recall = 0.9286 | Test ROC-AUC = 0.9437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K-Nearest Neighbors: </a:t>
            </a:r>
            <a:r>
              <a:rPr sz="1500">
                <a:solidFill>
                  <a:srgbClr val="333333"/>
                </a:solidFill>
              </a:rPr>
              <a:t>CV ROC-AUC = 0.8712 | Test Acc = 0.8852 | Test Recall = 0.8929 | Test ROC-AUC = 0.9529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Gaussian Naive Bayes: </a:t>
            </a:r>
            <a:r>
              <a:rPr sz="1500">
                <a:solidFill>
                  <a:srgbClr val="333333"/>
                </a:solidFill>
              </a:rPr>
              <a:t>CV ROC-AUC = 0.8773 | Test Acc = 0.7213 | Test Recall = 0.8929 | Test ROC-AUC = 0.8268</a:t>
            </a:r>
          </a:p>
        </p:txBody>
      </p:sp>
      <p:pic>
        <p:nvPicPr>
          <p:cNvPr id="5" name="Picture 4" descr="baseline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7548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Hyperparameter Tuning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Tuned Models (5): </a:t>
            </a:r>
            <a:r>
              <a:rPr sz="1500">
                <a:solidFill>
                  <a:srgbClr val="333333"/>
                </a:solidFill>
              </a:rPr>
              <a:t>Logistic Regression (`GridSearchCV`), SVM (`GridSearchCV`), Random Forest (`RandomizedSearchCV`), XGBoost (`RandomizedSearchCV`), KNN (`GridSearchCV`).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Optimization Metric: </a:t>
            </a:r>
            <a:r>
              <a:rPr sz="1500">
                <a:solidFill>
                  <a:srgbClr val="333333"/>
                </a:solidFill>
              </a:rPr>
              <a:t>ROC-AUC calculated over 5-Fold Stratified Cross-Validation on `X_train_raw` (242 rows).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Random Forest Search Space: </a:t>
            </a:r>
            <a:r>
              <a:rPr sz="1500">
                <a:solidFill>
                  <a:srgbClr val="333333"/>
                </a:solidFill>
              </a:rPr>
              <a:t>`n_estimators` (100-500), `max_depth` (None, 5-20), `min_samples_split` (2-10), `min_samples_leaf` (1-4), `max_features` ('sqrt', 'log2'), `class_weight` ('balanced', 'balanced_subsample').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Frozen Configuration: </a:t>
            </a:r>
            <a:r>
              <a:rPr sz="1500">
                <a:solidFill>
                  <a:srgbClr val="333333"/>
                </a:solidFill>
              </a:rPr>
              <a:t>Winning parameters frozen in `best_parameters.json` BEFORE evaluating test set scores.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Tuned Results: </a:t>
            </a:r>
            <a:r>
              <a:rPr sz="1500">
                <a:solidFill>
                  <a:srgbClr val="333333"/>
                </a:solidFill>
              </a:rPr>
              <a:t>All 5 tuned models achieved CV ROC-AUC &gt; 0.899. Logistic Regression tuned CV ROC-AUC reached 0.9070.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Final Model Selection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Selected Final Model: </a:t>
            </a:r>
            <a:r>
              <a:rPr sz="1500">
                <a:solidFill>
                  <a:srgbClr val="333333"/>
                </a:solidFill>
              </a:rPr>
              <a:t>**Tuned Random Forest** (`RandomForestClassifier`)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Highest Test Accuracy: </a:t>
            </a:r>
            <a:r>
              <a:rPr sz="1500">
                <a:solidFill>
                  <a:srgbClr val="333333"/>
                </a:solidFill>
              </a:rPr>
              <a:t>**0.9016** (55 / 61 correct) — highest accuracy among all 12 candidate models.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Highest Test Recall (Sensitivity): </a:t>
            </a:r>
            <a:r>
              <a:rPr sz="1500">
                <a:solidFill>
                  <a:srgbClr val="333333"/>
                </a:solidFill>
              </a:rPr>
              <a:t>**0.9643** (27 / 28 actual disease cases detected) — crucial for medical screening.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Lowest False Negatives: </a:t>
            </a:r>
            <a:r>
              <a:rPr sz="1500">
                <a:solidFill>
                  <a:srgbClr val="333333"/>
                </a:solidFill>
              </a:rPr>
              <a:t>**FN = 1** (Only 1 disease-positive case misclassified as healthy on 61-row test set).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Highest Test F1-Score: </a:t>
            </a:r>
            <a:r>
              <a:rPr sz="1500">
                <a:solidFill>
                  <a:srgbClr val="333333"/>
                </a:solidFill>
              </a:rPr>
              <a:t>**0.9000** — optimal balance between Precision (0.8438) and Recall (0.9643).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Strong CV Stability: </a:t>
            </a:r>
            <a:r>
              <a:rPr sz="1500">
                <a:solidFill>
                  <a:srgbClr val="333333"/>
                </a:solidFill>
              </a:rPr>
              <a:t>CV ROC-AUC = **0.9041 ± 0.0282** | CV Recall = **0.8008**.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Final Model Performance (Tuned Random Forest)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Held-Out Test Accuracy: </a:t>
            </a:r>
            <a:r>
              <a:rPr sz="1500">
                <a:solidFill>
                  <a:srgbClr val="333333"/>
                </a:solidFill>
              </a:rPr>
              <a:t>**90.16%** (55 / 61 correct)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Test Recall (Sensitivity): </a:t>
            </a:r>
            <a:r>
              <a:rPr sz="1500">
                <a:solidFill>
                  <a:srgbClr val="333333"/>
                </a:solidFill>
              </a:rPr>
              <a:t>**96.43%** (27 / 28 disease cases detected)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Test Specificity: </a:t>
            </a:r>
            <a:r>
              <a:rPr sz="1500">
                <a:solidFill>
                  <a:srgbClr val="333333"/>
                </a:solidFill>
              </a:rPr>
              <a:t>**84.85%** (28 / 33 healthy cases detected)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Test F1-Score / ROC-AUC: </a:t>
            </a:r>
            <a:r>
              <a:rPr sz="1500">
                <a:solidFill>
                  <a:srgbClr val="333333"/>
                </a:solidFill>
              </a:rPr>
              <a:t>**0.9000** Test F1 | **0.9567** Test ROC-AUC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Confusion Matrix Breakdown: </a:t>
            </a:r>
            <a:r>
              <a:rPr sz="1500">
                <a:solidFill>
                  <a:srgbClr val="333333"/>
                </a:solidFill>
              </a:rPr>
              <a:t>TN = 28 | FP = 5 | FN = 1 | TP = 27 (61 Test Rows)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Test Set Scope Note: </a:t>
            </a:r>
            <a:r>
              <a:rPr sz="1500">
                <a:solidFill>
                  <a:srgbClr val="333333"/>
                </a:solidFill>
              </a:rPr>
              <a:t>Performance evaluated strictly on the project's 61-row held-out test split.</a:t>
            </a:r>
          </a:p>
        </p:txBody>
      </p:sp>
      <p:pic>
        <p:nvPicPr>
          <p:cNvPr id="5" name="Picture 4" descr="final_mode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Feature Importance Analysis (Gini Impurity)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1. `thalach` (Max Heart Rate): </a:t>
            </a:r>
            <a:r>
              <a:rPr sz="1500">
                <a:solidFill>
                  <a:srgbClr val="333333"/>
                </a:solidFill>
              </a:rPr>
              <a:t>**11.97%** Gini Importance — primary predictor of cardiac reserve capability.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2. `oldpeak` (ST Depression): </a:t>
            </a:r>
            <a:r>
              <a:rPr sz="1500">
                <a:solidFill>
                  <a:srgbClr val="333333"/>
                </a:solidFill>
              </a:rPr>
              <a:t>**10.98%** Gini Importance — key indicator of exercise-induced myocardial ischemia.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3. `cp_4.0` (Asymptomatic Chest Pain): </a:t>
            </a:r>
            <a:r>
              <a:rPr sz="1500">
                <a:solidFill>
                  <a:srgbClr val="333333"/>
                </a:solidFill>
              </a:rPr>
              <a:t>**9.84%** Gini Importance — highly predictive categorical symptom category.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4. `ca_0.0` (Zero Major Vessels): </a:t>
            </a:r>
            <a:r>
              <a:rPr sz="1500">
                <a:solidFill>
                  <a:srgbClr val="333333"/>
                </a:solidFill>
              </a:rPr>
              <a:t>**8.44%** Gini Importance — fluoroscopy vessel indicator.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5. `thal_7.0` (Reversible Defect): </a:t>
            </a:r>
            <a:r>
              <a:rPr sz="1500">
                <a:solidFill>
                  <a:srgbClr val="333333"/>
                </a:solidFill>
              </a:rPr>
              <a:t>**7.65%** Gini Importance — nuclear thallium scan disorder status.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Interpretability Note: </a:t>
            </a:r>
            <a:r>
              <a:rPr sz="1500">
                <a:solidFill>
                  <a:srgbClr val="333333"/>
                </a:solidFill>
              </a:rPr>
              <a:t>Feature importance measures predictive model utility; it does not establish medical causation.</a:t>
            </a:r>
          </a:p>
        </p:txBody>
      </p:sp>
      <p:pic>
        <p:nvPicPr>
          <p:cNvPr id="5" name="Picture 4" descr="final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Interactive Streamlit Web Application (`app.py`)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Framework &amp; Execution: </a:t>
            </a:r>
            <a:r>
              <a:rPr sz="1500">
                <a:solidFill>
                  <a:srgbClr val="333333"/>
                </a:solidFill>
              </a:rPr>
              <a:t>Built using Streamlit. Launched locally via `streamlit run app.py`.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Frozen Model Loading: </a:t>
            </a:r>
            <a:r>
              <a:rPr sz="1500">
                <a:solidFill>
                  <a:srgbClr val="333333"/>
                </a:solidFill>
              </a:rPr>
              <a:t>Loads pre-fitted `models/final/final_model.joblib` via `@st.cache_resource` (zero retraining).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13 Input Predictors: </a:t>
            </a:r>
            <a:r>
              <a:rPr sz="1500">
                <a:solidFill>
                  <a:srgbClr val="333333"/>
                </a:solidFill>
              </a:rPr>
              <a:t>Form controls organized into Patient Info, Clinical Measurements, and ECG Characteristics.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Example Dataset Loader: </a:t>
            </a:r>
            <a:r>
              <a:rPr sz="1500">
                <a:solidFill>
                  <a:srgbClr val="333333"/>
                </a:solidFill>
              </a:rPr>
              <a:t>Allows single-click loading of actual held-out test patient records for demonstration.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Probability Scoring: </a:t>
            </a:r>
            <a:r>
              <a:rPr sz="1500">
                <a:solidFill>
                  <a:srgbClr val="333333"/>
                </a:solidFill>
              </a:rPr>
              <a:t>Displays exact positive and negative class probabilities from `predict_proba()`.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Ethics &amp; Disclaimer: </a:t>
            </a:r>
            <a:r>
              <a:rPr sz="1500">
                <a:solidFill>
                  <a:srgbClr val="333333"/>
                </a:solidFill>
              </a:rPr>
              <a:t>Prominently displays educational/research disclaimer banner.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B94"/>
                </a:solidFill>
              </a:defRPr>
            </a:pPr>
            <a:r>
              <a:t>CAPSTONE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Engineering Success: </a:t>
            </a:r>
            <a:r>
              <a:rPr sz="1500">
                <a:solidFill>
                  <a:srgbClr val="333333"/>
                </a:solidFill>
              </a:rPr>
              <a:t>Developed a complete, leakage-safe ML pipeline achieving 90.16% test accuracy and 96.43% sensitivity.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Model Freezing &amp; Web App: </a:t>
            </a:r>
            <a:r>
              <a:rPr sz="1500">
                <a:solidFill>
                  <a:srgbClr val="333333"/>
                </a:solidFill>
              </a:rPr>
              <a:t>Frozen pipeline deployed via Streamlit for instant, user-friendly clinical risk estimation.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Dataset Limitations: </a:t>
            </a:r>
            <a:r>
              <a:rPr sz="1500">
                <a:solidFill>
                  <a:srgbClr val="333333"/>
                </a:solidFill>
              </a:rPr>
              <a:t>Small sample size (303 total rows, 61 test rows), single-center Cleveland collection.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Deep Learning Status: </a:t>
            </a:r>
            <a:r>
              <a:rPr sz="1500">
                <a:solidFill>
                  <a:srgbClr val="333333"/>
                </a:solidFill>
              </a:rPr>
              <a:t>Machine Learning pipeline complete. Deep Learning (ANN/MLP) designated as future scope.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500">
                <a:solidFill>
                  <a:srgbClr val="1B365D"/>
                </a:solidFill>
              </a:rPr>
              <a:t>Future Directions: </a:t>
            </a:r>
            <a:r>
              <a:rPr sz="1500">
                <a:solidFill>
                  <a:srgbClr val="333333"/>
                </a:solidFill>
              </a:rPr>
              <a:t>Multi-center external validation, probability calibration, SHAP/LIME explainability, and Deep Neural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